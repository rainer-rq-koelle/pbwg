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f4ac357da424fe1" /><Relationship Type="http://schemas.openxmlformats.org/officeDocument/2006/relationships/extended-properties" Target="/docProps/app.xml" Id="Ra14e0e3559664df5" /><Relationship Type="http://schemas.openxmlformats.org/officeDocument/2006/relationships/officeDocument" Target="/ppt/presentation.xml" Id="Rf9a100fc414645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8a3f603de64770"/>
  </p:sldMasterIdLst>
  <p:notesMasterIdLst>
    <p:notesMasterId xmlns:r="http://schemas.openxmlformats.org/officeDocument/2006/relationships" r:id="Re6c70d0160134c29"/>
  </p:notesMasterIdLst>
  <p:sldIdLst>
    <p:sldId xmlns:r="http://schemas.openxmlformats.org/officeDocument/2006/relationships" id="256" r:id="R33ae23e9c950427b"/>
    <p:sldId xmlns:r="http://schemas.openxmlformats.org/officeDocument/2006/relationships" id="257" r:id="R83a508cf1ce14bdb"/>
    <p:sldId xmlns:r="http://schemas.openxmlformats.org/officeDocument/2006/relationships" id="258" r:id="R82e8529e40ec438b"/>
    <p:sldId xmlns:r="http://schemas.openxmlformats.org/officeDocument/2006/relationships" id="259" r:id="R6bbc23e9bff74c7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3076aad90e4328" /><Relationship Type="http://schemas.openxmlformats.org/officeDocument/2006/relationships/slideMaster" Target="/ppt/slideMasters/slideMaster1.xml" Id="R368a3f603de64770" /><Relationship Type="http://schemas.openxmlformats.org/officeDocument/2006/relationships/notesMaster" Target="/ppt/notesMasters/notesMaster1.xml" Id="Re6c70d0160134c29" /><Relationship Type="http://schemas.openxmlformats.org/officeDocument/2006/relationships/presProps" Target="/ppt/presProps.xml" Id="R832a43e31d664e85" /><Relationship Type="http://schemas.openxmlformats.org/officeDocument/2006/relationships/tableStyles" Target="/ppt/tableStyles.xml" Id="R09d927474882482e" /><Relationship Type="http://schemas.openxmlformats.org/officeDocument/2006/relationships/slide" Target="/ppt/slides/slide1.xml" Id="R33ae23e9c950427b" /><Relationship Type="http://schemas.openxmlformats.org/officeDocument/2006/relationships/slide" Target="/ppt/slides/slide2.xml" Id="R83a508cf1ce14bdb" /><Relationship Type="http://schemas.openxmlformats.org/officeDocument/2006/relationships/slide" Target="/ppt/slides/slide3.xml" Id="R82e8529e40ec438b" /><Relationship Type="http://schemas.openxmlformats.org/officeDocument/2006/relationships/slide" Target="/ppt/slides/slide4.xml" Id="R6bbc23e9bff74c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9a8bf08778d45a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70e80720344415" /><Relationship Type="http://schemas.openxmlformats.org/officeDocument/2006/relationships/notesMaster" Target="/ppt/notesMasters/notesMaster1.xml" Id="Rf99c6c919d3b4c9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7432cec2ffd45d8" /><Relationship Type="http://schemas.openxmlformats.org/officeDocument/2006/relationships/notesMaster" Target="/ppt/notesMasters/notesMaster1.xml" Id="R654f9d4828b946c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f20210c70e41a2" /><Relationship Type="http://schemas.openxmlformats.org/officeDocument/2006/relationships/notesMaster" Target="/ppt/notesMasters/notesMaster1.xml" Id="R617f8699f996422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7327eac0ded40b1" /><Relationship Type="http://schemas.openxmlformats.org/officeDocument/2006/relationships/notesMaster" Target="/ppt/notesMasters/notesMaster1.xml" Id="R8a7b4c89b2d9410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3d2aa2b492401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f42cef3f48455e" /><Relationship Type="http://schemas.openxmlformats.org/officeDocument/2006/relationships/slideLayout" Target="/ppt/slideLayouts/slideLayout1.xml" Id="R317bf3345ffe42a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17bf3345ffe42a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19843b244c41bd" /><Relationship Type="http://schemas.openxmlformats.org/officeDocument/2006/relationships/notesSlide" Target="/ppt/notesSlides/notesSlide1.xml" Id="Rce16addee3a04cb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77277a48cd4184" /><Relationship Type="http://schemas.openxmlformats.org/officeDocument/2006/relationships/image" Target="/ppt/media/image.png" Id="R843c5fe1f94149cc" /><Relationship Type="http://schemas.openxmlformats.org/officeDocument/2006/relationships/notesSlide" Target="/ppt/notesSlides/notesSlide2.xml" Id="Raa09f40c83e740c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59fe7e36534cf3" /><Relationship Type="http://schemas.openxmlformats.org/officeDocument/2006/relationships/image" Target="/ppt/media/image2.png" Id="R39e0c484159a4efc" /><Relationship Type="http://schemas.openxmlformats.org/officeDocument/2006/relationships/notesSlide" Target="/ppt/notesSlides/notesSlide3.xml" Id="R5156783df2e84d9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b4b8d58ca04681" /><Relationship Type="http://schemas.openxmlformats.org/officeDocument/2006/relationships/image" Target="/ppt/media/image3.png" Id="R72518daed0894cc9" /><Relationship Type="http://schemas.openxmlformats.org/officeDocument/2006/relationships/notesSlide" Target="/ppt/notesSlides/notesSlide4.xml" Id="R5db0878bbbcf439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59C797F-F292-429F-B11C-3B0229A17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7C78"/>
                </a:solidFill>
              </a:defRPr>
            </a:pPr>
            <a:r>
              <a:rPr sz="900" b="1">
                <a:solidFill>
                  <a:srgbClr val="007C78"/>
                </a:solidFill>
              </a:rPr>
              <a:t>SECTOR ANALYSIS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6BBF40-26A0-4B90-81A5-97EE3B5DA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From APDF crossings to ASMA / DSMA reference times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478717-D498-4132-9A82-914C10B8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3825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A traceable, analyst-led method with data-driven recommendations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1E7068-41FF-4BB0-B6A2-D64EC94E5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9812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61FACD-6B05-4183-85E8-F0E155C15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7C78"/>
                </a:solidFill>
              </a:defRPr>
            </a:pPr>
            <a:r>
              <a:rPr sz="1950" b="1">
                <a:solidFill>
                  <a:srgbClr val="007C78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0F747C-98F4-40D5-B6F9-5AEC051D7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Crossings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AB33DF-A33D-40E9-9232-5701170F3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40 / 100 NM bearing</a:t>
            </a:r>
          </a:p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and transit time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786AFA-522E-4B28-95F8-62258B670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333750"/>
            <a:ext cx="2095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solidFill>
              <a:srgbClr val="007C7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C6D8EC-79F1-46A6-B3EB-8BD558DD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81250"/>
            <a:ext cx="19812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0C13E7-3F2D-4871-8F01-AB016B46B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5717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7C78"/>
                </a:solidFill>
              </a:defRPr>
            </a:pPr>
            <a:r>
              <a:rPr sz="1950" b="1">
                <a:solidFill>
                  <a:srgbClr val="007C78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2C3C19-7189-465C-9ED1-57657658F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861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Flow shape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78F45E-540D-4B0C-A7B2-412F4928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56235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Circular smoothing</a:t>
            </a:r>
          </a:p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and local valleys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956286-66DD-42B3-AC15-88EF25C8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333750"/>
            <a:ext cx="2095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solidFill>
              <a:srgbClr val="007C7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9F32CB-2757-45B4-B325-207B6BC3B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381250"/>
            <a:ext cx="19812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11DFEB-41EA-4641-BA07-464F195B5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5717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7C78"/>
                </a:solidFill>
              </a:defRPr>
            </a:pPr>
            <a:r>
              <a:rPr sz="1950" b="1">
                <a:solidFill>
                  <a:srgbClr val="007C78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ACBAF9-CF0A-4B66-9E1D-C910F40EA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0861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First cuts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D0E4E7-481D-4C57-81A3-A8B893CB5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56235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Valley-safe 5 degree</a:t>
            </a:r>
          </a:p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sector proposal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D6487C-4CBF-46A3-A959-FF7169395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333750"/>
            <a:ext cx="2095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solidFill>
              <a:srgbClr val="007C7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9A9CE5-68F2-4D9A-A1AE-31509DE1A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381250"/>
            <a:ext cx="19812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5"/>
          </a:solidFill>
          <a:ln xmlns:a="http://schemas.openxmlformats.org/drawingml/2006/main" w="9525">
            <a:solidFill>
              <a:srgbClr val="007C7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D5C8AD2-AB0A-4C66-A564-1D69E9261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717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7C78"/>
                </a:solidFill>
              </a:defRPr>
            </a:pPr>
            <a:r>
              <a:rPr sz="1950" b="1">
                <a:solidFill>
                  <a:srgbClr val="007C78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890433-9A6B-4FF6-93BE-689B40128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861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Pooling test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99C50D-EC86-4354-A428-F0380E4B2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6235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Runway / class P20</a:t>
            </a:r>
          </a:p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reference impact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F806EB-CDC7-4EA3-9ABF-3B847A24B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333750"/>
            <a:ext cx="2095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7C78"/>
          </a:solidFill>
          <a:ln xmlns:a="http://schemas.openxmlformats.org/drawingml/2006/main" w="0">
            <a:solidFill>
              <a:srgbClr val="007C7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BC1BC3-B16B-4333-BF54-890EB65F7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381250"/>
            <a:ext cx="1981200" cy="2247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E7C8F1-6CC2-4B71-9F09-A682CA49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571750"/>
            <a:ext cx="381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7C78"/>
                </a:solidFill>
              </a:defRPr>
            </a:pPr>
            <a:r>
              <a:rPr sz="1950" b="1">
                <a:solidFill>
                  <a:srgbClr val="007C78"/>
                </a:solidFill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F802B1-3727-4EAC-90D0-183280FF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0861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Reference set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3E12EA-87B8-4EB9-8F30-95E2848A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562350"/>
            <a:ext cx="1600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Approved sectors feed</a:t>
            </a:r>
          </a:p>
          <a:p xmlns:a="http://schemas.openxmlformats.org/drawingml/2006/main">
            <a:pPr algn="l">
              <a:defRPr sz="1275" b="0">
                <a:solidFill>
                  <a:srgbClr val="4B5563"/>
                </a:solidFill>
              </a:defRPr>
            </a:pPr>
            <a:r>
              <a:rPr sz="1275" b="0">
                <a:solidFill>
                  <a:srgbClr val="4B5563"/>
                </a:solidFill>
              </a:rPr>
              <a:t>ASMA / DSMA lookup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67CDE7-171C-46D0-8073-915B996C0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827"/>
                </a:solidFill>
              </a:defRPr>
            </a:pPr>
            <a:r>
              <a:rPr sz="1725" b="1">
                <a:solidFill>
                  <a:srgbClr val="111827"/>
                </a:solidFill>
              </a:rPr>
              <a:t>Principle: sector geometry is proposed from observed traffic; reference-time consequences determine whether adjacent flows can be pooled.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A977D3-A451-4F9D-ABE8-3E38C31AC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A27FEAC-947F-4B08-894C-04A69237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PBWG XSMA development | 2024 European reference work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F3C946-CDE5-4716-A346-334D224CA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563"/>
                </a:solidFill>
              </a:defRPr>
            </a:pPr>
            <a:r>
              <a:rPr sz="900" b="1">
                <a:solidFill>
                  <a:srgbClr val="4B5563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7224805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5053A1-4EE5-454E-88DF-A59F5A761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7C78"/>
                </a:solidFill>
              </a:defRPr>
            </a:pPr>
            <a:r>
              <a:rPr sz="900" b="1">
                <a:solidFill>
                  <a:srgbClr val="007C78"/>
                </a:solidFill>
              </a:rPr>
              <a:t>DECISION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76B079-D61C-4808-9C8B-9C2133824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Pooling impact turns visual judgement into a defensible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BA7E80-A8F3-4F8B-87A8-489F68572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523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B5563"/>
                </a:solidFill>
              </a:defRPr>
            </a:pPr>
            <a:r>
              <a:rPr sz="1500" b="0">
                <a:solidFill>
                  <a:srgbClr val="4B5563"/>
                </a:solidFill>
              </a:rPr>
              <a:t>A cut is not retained only because it looks like a valley.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E472C5-2E18-4961-AF69-745B7CC2E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152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C78"/>
                </a:solidFill>
              </a:defRPr>
            </a:pPr>
            <a:r>
              <a:rPr sz="1800" b="1">
                <a:solidFill>
                  <a:srgbClr val="007C78"/>
                </a:solidFill>
              </a:rPr>
              <a:t>-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0BEAB9-E071-4471-BAA3-672C95C6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52600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Start with visible valleys and human-readable rounding.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0B1A46-1DC6-4E50-8DB4-C45FBBD59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14575"/>
            <a:ext cx="152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C78"/>
                </a:solidFill>
              </a:defRPr>
            </a:pPr>
            <a:r>
              <a:rPr sz="1800" b="1">
                <a:solidFill>
                  <a:srgbClr val="007C78"/>
                </a:solidFill>
              </a:rPr>
              <a:t>-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F9D7C9-5F3C-403A-AB01-E7C953D29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05050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Compare matching runway / aircraft-class reference samples.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534760-DF26-42F6-BB9B-3F80B40B3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67025"/>
            <a:ext cx="152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C78"/>
                </a:solidFill>
              </a:defRPr>
            </a:pPr>
            <a:r>
              <a:rPr sz="1800" b="1">
                <a:solidFill>
                  <a:srgbClr val="007C78"/>
                </a:solidFill>
              </a:rPr>
              <a:t>-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A052A9-4693-450A-9AC6-EC8DEFF90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Pool the candidate sectors and quantify the P20 reference shift.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D539DA-BC37-4920-9E32-21930AFB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19475"/>
            <a:ext cx="152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C78"/>
                </a:solidFill>
              </a:defRPr>
            </a:pPr>
            <a:r>
              <a:rPr sz="1800" b="1">
                <a:solidFill>
                  <a:srgbClr val="007C78"/>
                </a:solidFill>
              </a:rPr>
              <a:t>-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A80F66-3B98-45DF-AC86-B069301AB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09950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Protect a cut when typical timing differs by more than 80 seconds or a material cell is affected.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2694B3-D217-4D45-8893-00A3B5A9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71925"/>
            <a:ext cx="152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7C78"/>
                </a:solidFill>
              </a:defRPr>
            </a:pPr>
            <a:r>
              <a:rPr sz="1800" b="1">
                <a:solidFill>
                  <a:srgbClr val="007C78"/>
                </a:solidFill>
              </a:rPr>
              <a:t>-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BB15AB-5529-4141-B8FF-8776DB4A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62400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Guide: propose merge, propose retain, or analyst review.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3AC93F-5441-467D-9973-62ED32D4F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04950"/>
            <a:ext cx="56769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3c5fe1f94149cc"/>
          <a:stretch xmlns:a="http://schemas.openxmlformats.org/drawingml/2006/main"/>
        </p:blipFill>
        <p:spPr>
          <a:xfrm xmlns:a="http://schemas.openxmlformats.org/drawingml/2006/main">
            <a:off x="6049736" y="1600200"/>
            <a:ext cx="5388429" cy="34290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7FEAC1-E4BC-4FC1-9CC8-ECDC676A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95875"/>
            <a:ext cx="24003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7F5"/>
          </a:solidFill>
          <a:ln xmlns:a="http://schemas.openxmlformats.org/drawingml/2006/main" w="9525">
            <a:solidFill>
              <a:srgbClr val="007C7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800AF3-4050-4E03-B013-944C40E51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1816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245 degree: MERGE</a:t>
            </a:r>
          </a:p>
          <a:p xmlns:a="http://schemas.openxmlformats.org/drawingml/2006/main"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5 sec P20 shift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717268-1967-4018-BF19-319CF1D76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5095875"/>
            <a:ext cx="2686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2EE"/>
          </a:solidFill>
          <a:ln xmlns:a="http://schemas.openxmlformats.org/drawingml/2006/main" w="9525">
            <a:solidFill>
              <a:srgbClr val="C8553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58FF0D-95B0-44A3-B913-97704D366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181600"/>
            <a:ext cx="2400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280 degree: RETAIN</a:t>
            </a:r>
          </a:p>
          <a:p xmlns:a="http://schemas.openxmlformats.org/drawingml/2006/main">
            <a:pPr algn="l">
              <a:defRPr sz="1200" b="1">
                <a:solidFill>
                  <a:srgbClr val="111827"/>
                </a:solidFill>
              </a:defRPr>
            </a:pPr>
            <a:r>
              <a:rPr sz="1200" b="1">
                <a:solidFill>
                  <a:srgbClr val="111827"/>
                </a:solidFill>
              </a:rPr>
              <a:t>26L / MT shifts 139 sec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3C8D0E-D06A-4E49-8D93-F654950B0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69595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B5563"/>
                </a:solidFill>
              </a:defRPr>
            </a:pPr>
            <a:r>
              <a:rPr sz="1200" b="0">
                <a:solidFill>
                  <a:srgbClr val="4B5563"/>
                </a:solidFill>
              </a:rPr>
              <a:t>EGKK DEP, 100 NM: local averages can look harmless while a substantive runway/class cell remains materially affected.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08F5E8-8FEF-4C8A-9C96-7541A325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747B83-CD61-4BAD-941C-877E17B8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PBWG XSMA development | 2024 European reference work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4F376E-91BB-4D90-B3B7-84F9B4103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563"/>
                </a:solidFill>
              </a:defRPr>
            </a:pPr>
            <a:r>
              <a:rPr sz="900" b="1">
                <a:solidFill>
                  <a:srgbClr val="4B5563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39001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890AA6-4933-4ABC-A6DD-1A3E18EBB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7C78"/>
                </a:solidFill>
              </a:defRPr>
            </a:pPr>
            <a:r>
              <a:rPr sz="900" b="1">
                <a:solidFill>
                  <a:srgbClr val="007C78"/>
                </a:solidFill>
              </a:rPr>
              <a:t>APPROVED ARRIVAL EXAMPLE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1C06D0-F901-48E4-ADFD-B16725AB5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ASMA showcase: Heathrow arrival sectors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55B4B0-8323-441D-A620-C6A39A210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EGLL | 2024 | ARR | 40 NM and 100 NM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9AF81D-5E2F-4C44-A8F0-3B72FC134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238250"/>
            <a:ext cx="6019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007C78"/>
                </a:solidFill>
              </a:defRPr>
            </a:pPr>
            <a:r>
              <a:rPr sz="975" b="1">
                <a:solidFill>
                  <a:srgbClr val="007C78"/>
                </a:solidFill>
              </a:rPr>
              <a:t>Approved cuts: 40 NM 000 / 105 / 170 / 235 / 285 | 100 NM 000 / 110 / 170 / 235 / 295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0EDEC5-0977-4B3C-9880-EBCF37A1D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e0c484159a4efc"/>
          <a:stretch xmlns:a="http://schemas.openxmlformats.org/drawingml/2006/main"/>
        </p:blipFill>
        <p:spPr>
          <a:xfrm xmlns:a="http://schemas.openxmlformats.org/drawingml/2006/main">
            <a:off x="3132364" y="1638300"/>
            <a:ext cx="5927271" cy="37719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E361BE-A467-4EA9-852E-BFA79F26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Approved boundaries retain the operationally distinct approach families while keeping a readable, maintainable sector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18E14F-56F9-4AA6-8104-812944868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AB89E5-A098-4769-9511-BDFEA4F44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PBWG XSMA development | 2024 European reference work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6CC962-F442-493A-9F67-50E63FDD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563"/>
                </a:solidFill>
              </a:defRPr>
            </a:pPr>
            <a:r>
              <a:rPr sz="900" b="1">
                <a:solidFill>
                  <a:srgbClr val="4B5563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3903599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69A05D-6A5A-4628-8811-9C104110A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76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07C78"/>
                </a:solidFill>
              </a:defRPr>
            </a:pPr>
            <a:r>
              <a:rPr sz="900" b="1">
                <a:solidFill>
                  <a:srgbClr val="007C78"/>
                </a:solidFill>
              </a:rPr>
              <a:t>APPROVED DEPARTURE EXAMPLE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B8D9CE-2946-47AB-9D13-A1181B44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11827"/>
                </a:solidFill>
              </a:defRPr>
            </a:pPr>
            <a:r>
              <a:rPr sz="2700" b="1">
                <a:solidFill>
                  <a:srgbClr val="111827"/>
                </a:solidFill>
              </a:rPr>
              <a:t>DSMA showcase: Gatwick departure sectors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CD16A4-8ACC-4F8D-A5F2-D8BDFDF19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EGKK | 2024 | DEP | 40 NM and 100 NM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4062B5-1FAC-48B9-B261-2AB2AE71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09728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518daed0894cc9"/>
          <a:stretch xmlns:a="http://schemas.openxmlformats.org/drawingml/2006/main"/>
        </p:blipFill>
        <p:spPr>
          <a:xfrm xmlns:a="http://schemas.openxmlformats.org/drawingml/2006/main">
            <a:off x="3132364" y="1638300"/>
            <a:ext cx="5927271" cy="37719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BA3819-3BCE-4EAE-B22A-3806CC22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76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827"/>
                </a:solidFill>
              </a:defRPr>
            </a:pPr>
            <a:r>
              <a:rPr sz="1275" b="1">
                <a:solidFill>
                  <a:srgbClr val="111827"/>
                </a:solidFill>
              </a:rPr>
              <a:t>Teal lines are selected boundaries; red dotted lines preserve the removed-cut audit trail. The 280 degree cut remains because pooling materially changes a real 26L / MT reference cell.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DD078C-B586-489F-9651-299D916CB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9E2853-EBB0-42E1-ACFD-81185C22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PBWG XSMA development | 2024 European reference work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FD21A8-3FD3-4D9E-AC18-80F000EE7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15100"/>
            <a:ext cx="3429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4B5563"/>
                </a:solidFill>
              </a:defRPr>
            </a:pPr>
            <a:r>
              <a:rPr sz="900" b="1">
                <a:solidFill>
                  <a:srgbClr val="4B5563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9237625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2026-09-02T09:51:12.0750000Z</dcterms:created>
  <dcterms:modified xsi:type="dcterms:W3CDTF">2026-09-02T09:51:12.0750000Z</dcterms:modified>
</coreProperties>
</file>